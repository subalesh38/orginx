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7" r:id="rId2"/>
    <p:sldId id="262" r:id="rId3"/>
    <p:sldId id="263" r:id="rId4"/>
    <p:sldId id="264" r:id="rId5"/>
    <p:sldId id="265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/>
              <a:t>7/31/2026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/>
              <a:t>7/31/2026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/>
              <a:t>7/31/2026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/>
              <a:t>7/31/2026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/>
              <a:t>7/31/2026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/>
              <a:t>7/31/2026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/>
              <a:t>7/31/2026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/>
              <a:t>7/31/2026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/>
              <a:t>7/31/2026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/>
              <a:t>‹#›</a:t>
            </a:fld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/>
              <a:t>7/31/2026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/>
              <a:t>7/31/2026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/>
              <a:t>7/31/2026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/>
              <a:pPr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/>
              <a:pPr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6B320DBC-14B4-97F1-1A44-F650C026AF2D}"/>
              </a:ext>
            </a:extLst>
          </p:cNvPr>
          <p:cNvSpPr txBox="1"/>
          <p:nvPr/>
        </p:nvSpPr>
        <p:spPr>
          <a:xfrm>
            <a:off x="3360295" y="377944"/>
            <a:ext cx="547140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err="1"/>
              <a:t>OriginX</a:t>
            </a:r>
            <a:endParaRPr lang="en-US" sz="660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D3F43DC-44E1-F462-1821-BAB0DA37F76A}"/>
              </a:ext>
            </a:extLst>
          </p:cNvPr>
          <p:cNvSpPr txBox="1"/>
          <p:nvPr/>
        </p:nvSpPr>
        <p:spPr>
          <a:xfrm>
            <a:off x="8409482" y="5156617"/>
            <a:ext cx="396371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/>
              <a:t>Hemkumar.R – BE (AI &amp; ML)</a:t>
            </a:r>
          </a:p>
          <a:p>
            <a:r>
              <a:rPr lang="en-US" sz="2200"/>
              <a:t>Subalesh.N – BE (AI &amp; ML)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1CEFD92-6D70-774E-C582-72014D82E53F}"/>
              </a:ext>
            </a:extLst>
          </p:cNvPr>
          <p:cNvSpPr txBox="1"/>
          <p:nvPr/>
        </p:nvSpPr>
        <p:spPr>
          <a:xfrm>
            <a:off x="8409482" y="4725730"/>
            <a:ext cx="256962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/>
              <a:t>Team Members: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50BA710-761E-AFFE-C23D-73E5967B81BC}"/>
              </a:ext>
            </a:extLst>
          </p:cNvPr>
          <p:cNvSpPr txBox="1"/>
          <p:nvPr/>
        </p:nvSpPr>
        <p:spPr>
          <a:xfrm>
            <a:off x="809470" y="4971951"/>
            <a:ext cx="346272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/>
              <a:t>S.K.P Engineering College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DB0AF6FF-A065-9DA9-68E8-CE6C9659B455}"/>
              </a:ext>
            </a:extLst>
          </p:cNvPr>
          <p:cNvSpPr/>
          <p:nvPr/>
        </p:nvSpPr>
        <p:spPr>
          <a:xfrm>
            <a:off x="239842" y="270223"/>
            <a:ext cx="1454045" cy="1323438"/>
          </a:xfrm>
          <a:prstGeom prst="ellipse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246FCA4-70AF-35C3-B284-742006BFF684}"/>
              </a:ext>
            </a:extLst>
          </p:cNvPr>
          <p:cNvSpPr txBox="1"/>
          <p:nvPr/>
        </p:nvSpPr>
        <p:spPr>
          <a:xfrm>
            <a:off x="2728210" y="2128603"/>
            <a:ext cx="644577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i="1"/>
              <a:t>FitRight</a:t>
            </a:r>
          </a:p>
        </p:txBody>
      </p:sp>
    </p:spTree>
    <p:extLst>
      <p:ext uri="{BB962C8B-B14F-4D97-AF65-F5344CB8AC3E}">
        <p14:creationId xmlns:p14="http://schemas.microsoft.com/office/powerpoint/2010/main" val="6980035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49CAB7-9193-95A7-3BD9-40FEF17CEC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val 20">
            <a:extLst>
              <a:ext uri="{FF2B5EF4-FFF2-40B4-BE49-F238E27FC236}">
                <a16:creationId xmlns:a16="http://schemas.microsoft.com/office/drawing/2014/main" id="{959BD899-4832-38E1-3D57-91BDA1C5B256}"/>
              </a:ext>
            </a:extLst>
          </p:cNvPr>
          <p:cNvSpPr/>
          <p:nvPr/>
        </p:nvSpPr>
        <p:spPr>
          <a:xfrm>
            <a:off x="239842" y="270223"/>
            <a:ext cx="1454045" cy="1323438"/>
          </a:xfrm>
          <a:prstGeom prst="ellipse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E8AEEF-2017-B9A6-BA6F-E692CEAFAC1D}"/>
              </a:ext>
            </a:extLst>
          </p:cNvPr>
          <p:cNvSpPr txBox="1"/>
          <p:nvPr/>
        </p:nvSpPr>
        <p:spPr>
          <a:xfrm>
            <a:off x="3972393" y="196388"/>
            <a:ext cx="578620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/>
              <a:t>Workflow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BFD5102D-846C-FA5F-4D58-0B6D0EFC0C75}"/>
              </a:ext>
            </a:extLst>
          </p:cNvPr>
          <p:cNvGrpSpPr/>
          <p:nvPr/>
        </p:nvGrpSpPr>
        <p:grpSpPr>
          <a:xfrm>
            <a:off x="2063638" y="1780079"/>
            <a:ext cx="8074180" cy="3635114"/>
            <a:chOff x="1474030" y="1840041"/>
            <a:chExt cx="8074180" cy="3635114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2FD63F80-3568-0EC4-E8CA-0D13B0C253B1}"/>
                </a:ext>
              </a:extLst>
            </p:cNvPr>
            <p:cNvGrpSpPr/>
            <p:nvPr/>
          </p:nvGrpSpPr>
          <p:grpSpPr>
            <a:xfrm>
              <a:off x="1474030" y="1840041"/>
              <a:ext cx="1928738" cy="1817557"/>
              <a:chOff x="1429059" y="1765091"/>
              <a:chExt cx="2018679" cy="1952469"/>
            </a:xfrm>
          </p:grpSpPr>
          <p:sp>
            <p:nvSpPr>
              <p:cNvPr id="4" name="Flowchart: Off-page Connector 3">
                <a:extLst>
                  <a:ext uri="{FF2B5EF4-FFF2-40B4-BE49-F238E27FC236}">
                    <a16:creationId xmlns:a16="http://schemas.microsoft.com/office/drawing/2014/main" id="{78ADF49D-F838-7565-FA12-5E00284CF5A9}"/>
                  </a:ext>
                </a:extLst>
              </p:cNvPr>
              <p:cNvSpPr/>
              <p:nvPr/>
            </p:nvSpPr>
            <p:spPr>
              <a:xfrm>
                <a:off x="1429059" y="1765091"/>
                <a:ext cx="2018679" cy="1952469"/>
              </a:xfrm>
              <a:prstGeom prst="flowChartOffpageConnector">
                <a:avLst/>
              </a:prstGeom>
              <a:solidFill>
                <a:schemeClr val="accent2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BF09E144-0912-9EF1-C700-898C85C1D04A}"/>
                  </a:ext>
                </a:extLst>
              </p:cNvPr>
              <p:cNvSpPr/>
              <p:nvPr/>
            </p:nvSpPr>
            <p:spPr>
              <a:xfrm>
                <a:off x="2143592" y="2983043"/>
                <a:ext cx="584617" cy="494675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b="1">
                    <a:solidFill>
                      <a:schemeClr val="bg1"/>
                    </a:solidFill>
                  </a:rPr>
                  <a:t>1</a:t>
                </a:r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FAA79A09-1D9B-6B1C-FF0F-AE12920BB8EC}"/>
                </a:ext>
              </a:extLst>
            </p:cNvPr>
            <p:cNvGrpSpPr/>
            <p:nvPr/>
          </p:nvGrpSpPr>
          <p:grpSpPr>
            <a:xfrm>
              <a:off x="3542673" y="1840043"/>
              <a:ext cx="1928738" cy="1817557"/>
              <a:chOff x="1429059" y="1765091"/>
              <a:chExt cx="2018679" cy="1952469"/>
            </a:xfrm>
          </p:grpSpPr>
          <p:sp>
            <p:nvSpPr>
              <p:cNvPr id="13" name="Flowchart: Off-page Connector 12">
                <a:extLst>
                  <a:ext uri="{FF2B5EF4-FFF2-40B4-BE49-F238E27FC236}">
                    <a16:creationId xmlns:a16="http://schemas.microsoft.com/office/drawing/2014/main" id="{8E792E23-D5F1-A81F-964D-C25EEF023804}"/>
                  </a:ext>
                </a:extLst>
              </p:cNvPr>
              <p:cNvSpPr/>
              <p:nvPr/>
            </p:nvSpPr>
            <p:spPr>
              <a:xfrm>
                <a:off x="1429059" y="1765091"/>
                <a:ext cx="2018679" cy="1952469"/>
              </a:xfrm>
              <a:prstGeom prst="flowChartOffpageConnector">
                <a:avLst/>
              </a:prstGeom>
              <a:solidFill>
                <a:schemeClr val="accent2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00C49721-6BC1-DEC3-CA12-9C0B8011DD82}"/>
                  </a:ext>
                </a:extLst>
              </p:cNvPr>
              <p:cNvSpPr/>
              <p:nvPr/>
            </p:nvSpPr>
            <p:spPr>
              <a:xfrm>
                <a:off x="2146090" y="3126837"/>
                <a:ext cx="584617" cy="494675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b="1">
                    <a:solidFill>
                      <a:schemeClr val="bg1"/>
                    </a:solidFill>
                  </a:rPr>
                  <a:t>3</a:t>
                </a: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EE682A2B-12ED-98BA-6970-D0485371D9C0}"/>
                </a:ext>
              </a:extLst>
            </p:cNvPr>
            <p:cNvGrpSpPr/>
            <p:nvPr/>
          </p:nvGrpSpPr>
          <p:grpSpPr>
            <a:xfrm>
              <a:off x="5611316" y="1840043"/>
              <a:ext cx="1928738" cy="1817557"/>
              <a:chOff x="1429059" y="1765091"/>
              <a:chExt cx="2018679" cy="1952469"/>
            </a:xfrm>
          </p:grpSpPr>
          <p:sp>
            <p:nvSpPr>
              <p:cNvPr id="20" name="Flowchart: Off-page Connector 19">
                <a:extLst>
                  <a:ext uri="{FF2B5EF4-FFF2-40B4-BE49-F238E27FC236}">
                    <a16:creationId xmlns:a16="http://schemas.microsoft.com/office/drawing/2014/main" id="{5CD54040-8350-51D8-90B4-A1BB468ED20C}"/>
                  </a:ext>
                </a:extLst>
              </p:cNvPr>
              <p:cNvSpPr/>
              <p:nvPr/>
            </p:nvSpPr>
            <p:spPr>
              <a:xfrm>
                <a:off x="1429059" y="1765091"/>
                <a:ext cx="2018679" cy="1952469"/>
              </a:xfrm>
              <a:prstGeom prst="flowChartOffpageConnector">
                <a:avLst/>
              </a:prstGeom>
              <a:solidFill>
                <a:schemeClr val="accent2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FD5323D2-A024-F1ED-F80E-6FB317B62D6B}"/>
                  </a:ext>
                </a:extLst>
              </p:cNvPr>
              <p:cNvSpPr/>
              <p:nvPr/>
            </p:nvSpPr>
            <p:spPr>
              <a:xfrm>
                <a:off x="2143592" y="2983043"/>
                <a:ext cx="584617" cy="494675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b="1">
                    <a:solidFill>
                      <a:schemeClr val="bg1"/>
                    </a:solidFill>
                  </a:rPr>
                  <a:t>5</a:t>
                </a:r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143CC631-3DA0-80F7-132B-C6365C87B1A6}"/>
                </a:ext>
              </a:extLst>
            </p:cNvPr>
            <p:cNvGrpSpPr/>
            <p:nvPr/>
          </p:nvGrpSpPr>
          <p:grpSpPr>
            <a:xfrm>
              <a:off x="7619472" y="1872593"/>
              <a:ext cx="1928738" cy="1817557"/>
              <a:chOff x="1365751" y="1800058"/>
              <a:chExt cx="2018679" cy="1952469"/>
            </a:xfrm>
          </p:grpSpPr>
          <p:sp>
            <p:nvSpPr>
              <p:cNvPr id="24" name="Flowchart: Off-page Connector 23">
                <a:extLst>
                  <a:ext uri="{FF2B5EF4-FFF2-40B4-BE49-F238E27FC236}">
                    <a16:creationId xmlns:a16="http://schemas.microsoft.com/office/drawing/2014/main" id="{CA21012D-293F-4AE8-A473-78C50AE33D6E}"/>
                  </a:ext>
                </a:extLst>
              </p:cNvPr>
              <p:cNvSpPr/>
              <p:nvPr/>
            </p:nvSpPr>
            <p:spPr>
              <a:xfrm>
                <a:off x="1365751" y="1800058"/>
                <a:ext cx="2018679" cy="1952469"/>
              </a:xfrm>
              <a:prstGeom prst="flowChartOffpageConnector">
                <a:avLst/>
              </a:prstGeom>
              <a:solidFill>
                <a:schemeClr val="accent2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C6FB3DCF-E3F8-8685-E8CD-FFC18531B371}"/>
                  </a:ext>
                </a:extLst>
              </p:cNvPr>
              <p:cNvSpPr/>
              <p:nvPr/>
            </p:nvSpPr>
            <p:spPr>
              <a:xfrm>
                <a:off x="2082782" y="3145429"/>
                <a:ext cx="584617" cy="494675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b="1">
                    <a:solidFill>
                      <a:schemeClr val="bg1"/>
                    </a:solidFill>
                  </a:rPr>
                  <a:t>7</a:t>
                </a:r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A13C27FA-EB7E-9001-ECBD-1FCB8838D2B5}"/>
                </a:ext>
              </a:extLst>
            </p:cNvPr>
            <p:cNvGrpSpPr/>
            <p:nvPr/>
          </p:nvGrpSpPr>
          <p:grpSpPr>
            <a:xfrm rot="10800000">
              <a:off x="2508352" y="3657597"/>
              <a:ext cx="1943188" cy="1817557"/>
              <a:chOff x="1413935" y="1765092"/>
              <a:chExt cx="2033803" cy="1952469"/>
            </a:xfrm>
          </p:grpSpPr>
          <p:sp>
            <p:nvSpPr>
              <p:cNvPr id="27" name="Flowchart: Off-page Connector 26">
                <a:extLst>
                  <a:ext uri="{FF2B5EF4-FFF2-40B4-BE49-F238E27FC236}">
                    <a16:creationId xmlns:a16="http://schemas.microsoft.com/office/drawing/2014/main" id="{3AA713A3-62B4-4E60-3FCE-98BB95468881}"/>
                  </a:ext>
                </a:extLst>
              </p:cNvPr>
              <p:cNvSpPr/>
              <p:nvPr/>
            </p:nvSpPr>
            <p:spPr>
              <a:xfrm>
                <a:off x="1413935" y="1765092"/>
                <a:ext cx="2033803" cy="1952469"/>
              </a:xfrm>
              <a:prstGeom prst="flowChartOffpageConnector">
                <a:avLst/>
              </a:prstGeom>
              <a:solidFill>
                <a:schemeClr val="accent2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70FC9C92-0197-6742-C5C7-925D8315E4BB}"/>
                  </a:ext>
                </a:extLst>
              </p:cNvPr>
              <p:cNvSpPr/>
              <p:nvPr/>
            </p:nvSpPr>
            <p:spPr>
              <a:xfrm rot="10800000">
                <a:off x="2143592" y="2983043"/>
                <a:ext cx="584617" cy="494675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b="1">
                    <a:solidFill>
                      <a:schemeClr val="bg1"/>
                    </a:solidFill>
                  </a:rPr>
                  <a:t>2</a:t>
                </a:r>
              </a:p>
            </p:txBody>
          </p: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FD70B63F-7CF9-1F71-7990-B3F05EE6E327}"/>
                </a:ext>
              </a:extLst>
            </p:cNvPr>
            <p:cNvGrpSpPr/>
            <p:nvPr/>
          </p:nvGrpSpPr>
          <p:grpSpPr>
            <a:xfrm rot="10800000">
              <a:off x="4646947" y="3657598"/>
              <a:ext cx="1928738" cy="1817557"/>
              <a:chOff x="1429059" y="1765091"/>
              <a:chExt cx="2018679" cy="1952469"/>
            </a:xfrm>
          </p:grpSpPr>
          <p:sp>
            <p:nvSpPr>
              <p:cNvPr id="33" name="Flowchart: Off-page Connector 32">
                <a:extLst>
                  <a:ext uri="{FF2B5EF4-FFF2-40B4-BE49-F238E27FC236}">
                    <a16:creationId xmlns:a16="http://schemas.microsoft.com/office/drawing/2014/main" id="{F202B050-56DF-D475-EEEC-7ADB05818F40}"/>
                  </a:ext>
                </a:extLst>
              </p:cNvPr>
              <p:cNvSpPr/>
              <p:nvPr/>
            </p:nvSpPr>
            <p:spPr>
              <a:xfrm>
                <a:off x="1429059" y="1765091"/>
                <a:ext cx="2018679" cy="1952469"/>
              </a:xfrm>
              <a:prstGeom prst="flowChartOffpageConnector">
                <a:avLst/>
              </a:prstGeom>
              <a:solidFill>
                <a:schemeClr val="accent2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8DB03574-B843-8E6A-32AE-4CCC887453D4}"/>
                  </a:ext>
                </a:extLst>
              </p:cNvPr>
              <p:cNvSpPr/>
              <p:nvPr/>
            </p:nvSpPr>
            <p:spPr>
              <a:xfrm rot="10800000">
                <a:off x="2143592" y="2983043"/>
                <a:ext cx="584617" cy="494675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b="1">
                    <a:solidFill>
                      <a:schemeClr val="bg1"/>
                    </a:solidFill>
                  </a:rPr>
                  <a:t>4</a:t>
                </a:r>
              </a:p>
            </p:txBody>
          </p: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B332460E-0D55-EBAD-A60E-C35C3FDF9FA0}"/>
                </a:ext>
              </a:extLst>
            </p:cNvPr>
            <p:cNvGrpSpPr/>
            <p:nvPr/>
          </p:nvGrpSpPr>
          <p:grpSpPr>
            <a:xfrm rot="10800000">
              <a:off x="6790543" y="3657597"/>
              <a:ext cx="1928738" cy="1817557"/>
              <a:chOff x="1429059" y="1765091"/>
              <a:chExt cx="2018679" cy="1952469"/>
            </a:xfrm>
          </p:grpSpPr>
          <p:sp>
            <p:nvSpPr>
              <p:cNvPr id="36" name="Flowchart: Off-page Connector 35">
                <a:extLst>
                  <a:ext uri="{FF2B5EF4-FFF2-40B4-BE49-F238E27FC236}">
                    <a16:creationId xmlns:a16="http://schemas.microsoft.com/office/drawing/2014/main" id="{CB81C816-F7AC-C3F8-4305-903E985C4C5E}"/>
                  </a:ext>
                </a:extLst>
              </p:cNvPr>
              <p:cNvSpPr/>
              <p:nvPr/>
            </p:nvSpPr>
            <p:spPr>
              <a:xfrm>
                <a:off x="1429059" y="1765091"/>
                <a:ext cx="2018679" cy="1952469"/>
              </a:xfrm>
              <a:prstGeom prst="flowChartOffpageConnector">
                <a:avLst/>
              </a:prstGeom>
              <a:solidFill>
                <a:schemeClr val="accent2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810ECB22-079D-C602-E148-5F73347B8107}"/>
                  </a:ext>
                </a:extLst>
              </p:cNvPr>
              <p:cNvSpPr/>
              <p:nvPr/>
            </p:nvSpPr>
            <p:spPr>
              <a:xfrm rot="10800000">
                <a:off x="2143592" y="2983043"/>
                <a:ext cx="584617" cy="494675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b="1">
                    <a:solidFill>
                      <a:schemeClr val="bg1"/>
                    </a:solidFill>
                  </a:rPr>
                  <a:t>6</a:t>
                </a:r>
              </a:p>
            </p:txBody>
          </p:sp>
        </p:grpSp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9D324A62-FC09-F869-8795-7F8A73CF10B2}"/>
              </a:ext>
            </a:extLst>
          </p:cNvPr>
          <p:cNvSpPr txBox="1"/>
          <p:nvPr/>
        </p:nvSpPr>
        <p:spPr>
          <a:xfrm>
            <a:off x="2254671" y="1930282"/>
            <a:ext cx="14719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u="sng">
                <a:solidFill>
                  <a:schemeClr val="bg1"/>
                </a:solidFill>
              </a:rPr>
              <a:t>Login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E219224-67C5-2830-CE86-7DADAF2499F4}"/>
              </a:ext>
            </a:extLst>
          </p:cNvPr>
          <p:cNvSpPr txBox="1"/>
          <p:nvPr/>
        </p:nvSpPr>
        <p:spPr>
          <a:xfrm>
            <a:off x="2187635" y="2456631"/>
            <a:ext cx="18378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bg1"/>
                </a:solidFill>
              </a:rPr>
              <a:t>Gmail &amp; Password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0F566D5-A043-CB29-E345-1D64727826AC}"/>
              </a:ext>
            </a:extLst>
          </p:cNvPr>
          <p:cNvSpPr txBox="1"/>
          <p:nvPr/>
        </p:nvSpPr>
        <p:spPr>
          <a:xfrm>
            <a:off x="3103184" y="4221956"/>
            <a:ext cx="36523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>
                <a:solidFill>
                  <a:schemeClr val="bg1"/>
                </a:solidFill>
              </a:rPr>
              <a:t>Exercise</a:t>
            </a:r>
            <a:r>
              <a:rPr lang="en-US" sz="2400" b="1" u="sng">
                <a:solidFill>
                  <a:schemeClr val="bg1"/>
                </a:solidFill>
              </a:rPr>
              <a:t> </a:t>
            </a:r>
            <a:r>
              <a:rPr lang="en-US" sz="2000" b="1" u="sng">
                <a:solidFill>
                  <a:schemeClr val="bg1"/>
                </a:solidFill>
              </a:rPr>
              <a:t>Library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73C6290-ACA8-4239-E5B7-09F5F82D85B4}"/>
              </a:ext>
            </a:extLst>
          </p:cNvPr>
          <p:cNvSpPr txBox="1"/>
          <p:nvPr/>
        </p:nvSpPr>
        <p:spPr>
          <a:xfrm>
            <a:off x="3269933" y="4702843"/>
            <a:ext cx="192873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solidFill>
                  <a:schemeClr val="bg1"/>
                </a:solidFill>
              </a:rPr>
              <a:t>Select Exercise and View </a:t>
            </a:r>
            <a:r>
              <a:rPr lang="en-US" sz="1600">
                <a:solidFill>
                  <a:schemeClr val="bg1"/>
                </a:solidFill>
              </a:rPr>
              <a:t>Instructions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B576BD6-BC5B-AAF1-1C00-1D9DBCFE02ED}"/>
              </a:ext>
            </a:extLst>
          </p:cNvPr>
          <p:cNvSpPr txBox="1"/>
          <p:nvPr/>
        </p:nvSpPr>
        <p:spPr>
          <a:xfrm>
            <a:off x="4097309" y="1902520"/>
            <a:ext cx="61009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 </a:t>
            </a:r>
            <a:r>
              <a:rPr lang="en-US" b="1" u="sng">
                <a:solidFill>
                  <a:schemeClr val="bg1"/>
                </a:solidFill>
              </a:rPr>
              <a:t>Posture Detection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A9AF0EE-9547-E0AC-6E81-AE8F9D6C50A9}"/>
              </a:ext>
            </a:extLst>
          </p:cNvPr>
          <p:cNvSpPr txBox="1"/>
          <p:nvPr/>
        </p:nvSpPr>
        <p:spPr>
          <a:xfrm>
            <a:off x="4007902" y="2214644"/>
            <a:ext cx="216043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>
                <a:solidFill>
                  <a:schemeClr val="bg1"/>
                </a:solidFill>
              </a:rPr>
              <a:t>detects body posture using AI and pose estimation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3D4FBB1-646A-6B1E-0B40-3F25336F4DC1}"/>
              </a:ext>
            </a:extLst>
          </p:cNvPr>
          <p:cNvSpPr txBox="1"/>
          <p:nvPr/>
        </p:nvSpPr>
        <p:spPr>
          <a:xfrm>
            <a:off x="5198671" y="4237944"/>
            <a:ext cx="61009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 </a:t>
            </a:r>
            <a:r>
              <a:rPr lang="en-US" b="1" u="sng">
                <a:solidFill>
                  <a:schemeClr val="bg1"/>
                </a:solidFill>
              </a:rPr>
              <a:t>Posture Feedback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6A3B335-3CF1-FCFB-B9A8-234A18B1DD93}"/>
              </a:ext>
            </a:extLst>
          </p:cNvPr>
          <p:cNvSpPr txBox="1"/>
          <p:nvPr/>
        </p:nvSpPr>
        <p:spPr>
          <a:xfrm>
            <a:off x="6218837" y="1912131"/>
            <a:ext cx="610099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 </a:t>
            </a:r>
            <a:r>
              <a:rPr lang="en-US" b="1" u="sng">
                <a:solidFill>
                  <a:schemeClr val="bg1"/>
                </a:solidFill>
              </a:rPr>
              <a:t>Rep &amp; Set Counter</a:t>
            </a:r>
            <a:br>
              <a:rPr lang="en-US"/>
            </a:br>
            <a:endParaRPr lang="en-US" b="1" u="sng">
              <a:solidFill>
                <a:schemeClr val="bg1"/>
              </a:solidFill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1AA1FF7-BF16-8EDD-8F15-85894774E027}"/>
              </a:ext>
            </a:extLst>
          </p:cNvPr>
          <p:cNvSpPr txBox="1"/>
          <p:nvPr/>
        </p:nvSpPr>
        <p:spPr>
          <a:xfrm>
            <a:off x="7303874" y="4202336"/>
            <a:ext cx="61009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 </a:t>
            </a:r>
            <a:r>
              <a:rPr lang="en-US" sz="1600" b="1" u="sng">
                <a:solidFill>
                  <a:schemeClr val="bg1"/>
                </a:solidFill>
              </a:rPr>
              <a:t>Daily &amp; Weekly Tasks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57F42204-36B1-8733-7FA0-3CC523AC47D3}"/>
              </a:ext>
            </a:extLst>
          </p:cNvPr>
          <p:cNvSpPr txBox="1"/>
          <p:nvPr/>
        </p:nvSpPr>
        <p:spPr>
          <a:xfrm>
            <a:off x="8303792" y="1930282"/>
            <a:ext cx="61009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 </a:t>
            </a:r>
            <a:r>
              <a:rPr lang="en-US" b="1" u="sng">
                <a:solidFill>
                  <a:schemeClr val="bg1"/>
                </a:solidFill>
              </a:rPr>
              <a:t>Progress Report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4550A08A-0373-C937-15BC-1CE21A3DEA6C}"/>
              </a:ext>
            </a:extLst>
          </p:cNvPr>
          <p:cNvSpPr txBox="1"/>
          <p:nvPr/>
        </p:nvSpPr>
        <p:spPr>
          <a:xfrm>
            <a:off x="5256006" y="4571668"/>
            <a:ext cx="1984764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>
                <a:solidFill>
                  <a:schemeClr val="bg1"/>
                </a:solidFill>
              </a:rPr>
              <a:t>identifies incorrect posture and provides real-time correction tips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24E8D2B9-5967-C9F6-3BD7-5B18A6A7E55A}"/>
              </a:ext>
            </a:extLst>
          </p:cNvPr>
          <p:cNvSpPr txBox="1"/>
          <p:nvPr/>
        </p:nvSpPr>
        <p:spPr>
          <a:xfrm>
            <a:off x="6200923" y="2230492"/>
            <a:ext cx="22660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bg1"/>
                </a:solidFill>
              </a:rPr>
              <a:t>counts completed reps and exercise sets.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14E01E64-66A5-38E8-3879-821F8D18E46A}"/>
              </a:ext>
            </a:extLst>
          </p:cNvPr>
          <p:cNvSpPr txBox="1"/>
          <p:nvPr/>
        </p:nvSpPr>
        <p:spPr>
          <a:xfrm>
            <a:off x="7455628" y="4548584"/>
            <a:ext cx="21136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bg1"/>
                </a:solidFill>
              </a:rPr>
              <a:t>daily workout goals and tracks weekly exercise targets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6CC818C-CE0D-8B69-FC77-3C905F9B2E7B}"/>
              </a:ext>
            </a:extLst>
          </p:cNvPr>
          <p:cNvSpPr txBox="1"/>
          <p:nvPr/>
        </p:nvSpPr>
        <p:spPr>
          <a:xfrm>
            <a:off x="8164743" y="2199028"/>
            <a:ext cx="217044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solidFill>
                  <a:schemeClr val="bg1"/>
                </a:solidFill>
              </a:rPr>
              <a:t>completed workouts, posture performance, goal completion, and overall progress</a:t>
            </a:r>
          </a:p>
        </p:txBody>
      </p:sp>
    </p:spTree>
    <p:extLst>
      <p:ext uri="{BB962C8B-B14F-4D97-AF65-F5344CB8AC3E}">
        <p14:creationId xmlns:p14="http://schemas.microsoft.com/office/powerpoint/2010/main" val="42084088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352A1F-0579-BF54-1E9B-1AADF30922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407B54D0-8F62-6A17-D746-A4676222BDC3}"/>
              </a:ext>
            </a:extLst>
          </p:cNvPr>
          <p:cNvSpPr txBox="1"/>
          <p:nvPr/>
        </p:nvSpPr>
        <p:spPr>
          <a:xfrm>
            <a:off x="3360295" y="377944"/>
            <a:ext cx="547140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/>
              <a:t>Abstraction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748ADD72-E924-D42B-C754-A84C21C89F26}"/>
              </a:ext>
            </a:extLst>
          </p:cNvPr>
          <p:cNvSpPr/>
          <p:nvPr/>
        </p:nvSpPr>
        <p:spPr>
          <a:xfrm>
            <a:off x="239842" y="270223"/>
            <a:ext cx="1454045" cy="1323438"/>
          </a:xfrm>
          <a:prstGeom prst="ellipse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C991556-2F2E-8498-97FC-21BC6B9BF8ED}"/>
              </a:ext>
            </a:extLst>
          </p:cNvPr>
          <p:cNvSpPr/>
          <p:nvPr/>
        </p:nvSpPr>
        <p:spPr>
          <a:xfrm>
            <a:off x="914400" y="1873770"/>
            <a:ext cx="5181600" cy="43771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84BD1C-CF05-4DC8-4439-E6ADF5AD75B0}"/>
              </a:ext>
            </a:extLst>
          </p:cNvPr>
          <p:cNvSpPr txBox="1"/>
          <p:nvPr/>
        </p:nvSpPr>
        <p:spPr>
          <a:xfrm>
            <a:off x="1319134" y="2248525"/>
            <a:ext cx="4287187" cy="378565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/>
              <a:t>Acts as a </a:t>
            </a:r>
            <a:r>
              <a:rPr lang="en-US" sz="2400" b="1"/>
              <a:t>virtual posture coach</a:t>
            </a:r>
            <a:r>
              <a:rPr lang="en-US" sz="2400"/>
              <a:t> available anytime.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/>
              <a:t>Prevents injuries by teaching proper form.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/>
              <a:t>Builds confidence in beginners.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/>
              <a:t>App shows correct form with visual/audio cues.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E572E68-5175-9E8B-6FE1-F7D4FC354C5A}"/>
              </a:ext>
            </a:extLst>
          </p:cNvPr>
          <p:cNvSpPr txBox="1"/>
          <p:nvPr/>
        </p:nvSpPr>
        <p:spPr>
          <a:xfrm>
            <a:off x="6280878" y="2248525"/>
            <a:ext cx="4287187" cy="34163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/>
              <a:t>It tracks the number of </a:t>
            </a:r>
            <a:r>
              <a:rPr lang="en-US" sz="2400" b="1"/>
              <a:t>sets and completed workouts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/>
              <a:t>Users can set </a:t>
            </a:r>
            <a:r>
              <a:rPr lang="en-US" sz="2400" b="1"/>
              <a:t>daily and weekly fitness goals</a:t>
            </a:r>
            <a:r>
              <a:rPr lang="en-US" sz="240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/>
              <a:t>The app generates </a:t>
            </a:r>
            <a:r>
              <a:rPr lang="en-US" sz="2400" b="1"/>
              <a:t>progress reports</a:t>
            </a:r>
            <a:r>
              <a:rPr lang="en-US" sz="2400"/>
              <a:t> based on workout performance.</a:t>
            </a:r>
          </a:p>
        </p:txBody>
      </p:sp>
    </p:spTree>
    <p:extLst>
      <p:ext uri="{BB962C8B-B14F-4D97-AF65-F5344CB8AC3E}">
        <p14:creationId xmlns:p14="http://schemas.microsoft.com/office/powerpoint/2010/main" val="23602088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948581-1C79-A6E2-DA70-C3C4528FD4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val 20">
            <a:extLst>
              <a:ext uri="{FF2B5EF4-FFF2-40B4-BE49-F238E27FC236}">
                <a16:creationId xmlns:a16="http://schemas.microsoft.com/office/drawing/2014/main" id="{BF533A93-8C56-0A40-647F-9A6F659437F6}"/>
              </a:ext>
            </a:extLst>
          </p:cNvPr>
          <p:cNvSpPr/>
          <p:nvPr/>
        </p:nvSpPr>
        <p:spPr>
          <a:xfrm>
            <a:off x="239842" y="270223"/>
            <a:ext cx="1454045" cy="1323438"/>
          </a:xfrm>
          <a:prstGeom prst="ellipse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1F98F38-5CF6-4F32-893B-5F86A0B70E0C}"/>
              </a:ext>
            </a:extLst>
          </p:cNvPr>
          <p:cNvSpPr txBox="1"/>
          <p:nvPr/>
        </p:nvSpPr>
        <p:spPr>
          <a:xfrm>
            <a:off x="4287187" y="150302"/>
            <a:ext cx="53215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/>
              <a:t>Purpose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2CAA3E-853F-F538-F8ED-588C5BD1D637}"/>
              </a:ext>
            </a:extLst>
          </p:cNvPr>
          <p:cNvSpPr txBox="1"/>
          <p:nvPr/>
        </p:nvSpPr>
        <p:spPr>
          <a:xfrm>
            <a:off x="1948721" y="1708879"/>
            <a:ext cx="915899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2400" b="1" u="sng"/>
              <a:t>Detect Exercise Posture</a:t>
            </a:r>
            <a:br>
              <a:rPr lang="en-US" sz="2400"/>
            </a:br>
            <a:r>
              <a:rPr lang="en-US" sz="2400"/>
              <a:t>Analyze the user’s body posture using the mobile camera. </a:t>
            </a:r>
          </a:p>
          <a:p>
            <a:pPr lvl="0"/>
            <a:r>
              <a:rPr lang="en-US" sz="2400" b="1" u="sng"/>
              <a:t>Identify Incorrect Movements</a:t>
            </a:r>
            <a:br>
              <a:rPr lang="en-US" sz="2400"/>
            </a:br>
            <a:r>
              <a:rPr lang="en-US" sz="2400"/>
              <a:t>Detect whether the user is performing an exercise with the wrong form. </a:t>
            </a:r>
          </a:p>
          <a:p>
            <a:pPr lvl="0"/>
            <a:r>
              <a:rPr lang="en-US" sz="2400" b="1" u="sng"/>
              <a:t>Provide Real-Time Feedback</a:t>
            </a:r>
            <a:br>
              <a:rPr lang="en-US" sz="2400"/>
            </a:br>
            <a:r>
              <a:rPr lang="en-US" sz="2400"/>
              <a:t>Give instant correction tips, such as “Keep your back straight” or “Align your knees.” </a:t>
            </a:r>
          </a:p>
          <a:p>
            <a:pPr lvl="0"/>
            <a:r>
              <a:rPr lang="en-US" sz="2400" b="1" u="sng"/>
              <a:t>Guide Proper Exercise Form</a:t>
            </a:r>
            <a:br>
              <a:rPr lang="en-US" sz="2400"/>
            </a:br>
            <a:r>
              <a:rPr lang="en-US" sz="2400"/>
              <a:t>Help users understand and maintain the correct posture while exercising. </a:t>
            </a:r>
          </a:p>
          <a:p>
            <a:pPr lvl="0"/>
            <a:r>
              <a:rPr lang="en-US" sz="2400" b="1" u="sng"/>
              <a:t>Automatically Count Repetitions</a:t>
            </a:r>
            <a:br>
              <a:rPr lang="en-US" sz="2400"/>
            </a:br>
            <a:r>
              <a:rPr lang="en-US" sz="2400"/>
              <a:t>Detect and count each completed exercise repetition without manual input</a:t>
            </a:r>
          </a:p>
          <a:p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22026283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09FD7E-7ACB-1207-37D9-3981ECF8B5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val 20">
            <a:extLst>
              <a:ext uri="{FF2B5EF4-FFF2-40B4-BE49-F238E27FC236}">
                <a16:creationId xmlns:a16="http://schemas.microsoft.com/office/drawing/2014/main" id="{61E060A5-8A7E-EB7C-2835-1AB130AFC3FA}"/>
              </a:ext>
            </a:extLst>
          </p:cNvPr>
          <p:cNvSpPr/>
          <p:nvPr/>
        </p:nvSpPr>
        <p:spPr>
          <a:xfrm>
            <a:off x="239842" y="270223"/>
            <a:ext cx="1454045" cy="1323438"/>
          </a:xfrm>
          <a:prstGeom prst="ellipse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2B378BD-543A-F97E-A210-0412249910CC}"/>
              </a:ext>
            </a:extLst>
          </p:cNvPr>
          <p:cNvSpPr txBox="1"/>
          <p:nvPr/>
        </p:nvSpPr>
        <p:spPr>
          <a:xfrm>
            <a:off x="3627620" y="2233534"/>
            <a:ext cx="538146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58344370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142578CA-DEC9-49C3-80AF-C113973CC9A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177</TotalTime>
  <Words>261</Words>
  <Application>Microsoft Office PowerPoint</Application>
  <PresentationFormat>Widescreen</PresentationFormat>
  <Paragraphs>48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Tw Cen MT</vt:lpstr>
      <vt:lpstr>Circuit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hemk5071@outlook.com</dc:creator>
  <cp:lastModifiedBy>hemk5071@outlook.com</cp:lastModifiedBy>
  <cp:revision>2</cp:revision>
  <dcterms:created xsi:type="dcterms:W3CDTF">2026-07-31T09:55:26Z</dcterms:created>
  <dcterms:modified xsi:type="dcterms:W3CDTF">2026-07-31T12:52:55Z</dcterms:modified>
</cp:coreProperties>
</file>